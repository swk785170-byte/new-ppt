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ojects/sandbox/new-ppt/assets/emble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608" y="822960"/>
            <a:ext cx="1554480" cy="1554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487168"/>
            <a:ext cx="1219169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34E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STEM ENGINEERING CHALLENGE SERIES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0" y="2798064"/>
            <a:ext cx="1219169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spc="200" kern="0" dirty="0">
                <a:solidFill>
                  <a:srgbClr val="EAF7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OPERATION SKYLINE</a:t>
            </a:r>
            <a:endParaRPr lang="en-US" sz="6600" dirty="0"/>
          </a:p>
        </p:txBody>
      </p:sp>
      <p:sp>
        <p:nvSpPr>
          <p:cNvPr id="5" name="Text 2"/>
          <p:cNvSpPr/>
          <p:nvPr/>
        </p:nvSpPr>
        <p:spPr>
          <a:xfrm>
            <a:off x="0" y="4023360"/>
            <a:ext cx="12191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7DF7F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Rescue Glider Challenge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0" y="4709160"/>
            <a:ext cx="12191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BBF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Salvage. Engineer. Deploy. Save the zone.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0" y="5532120"/>
            <a:ext cx="1219169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EA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Saturday, 15 August 2026</a:t>
            </a:r>
            <a:pPr algn="ctr" indent="0" marL="0">
              <a:buNone/>
            </a:pPr>
            <a:r>
              <a:rPr lang="en-US" sz="1250" spc="100" kern="0" dirty="0">
                <a:solidFill>
                  <a:srgbClr val="34E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</a:t>
            </a:r>
            <a:pPr algn="ctr" indent="0" marL="0">
              <a:buNone/>
            </a:pPr>
            <a:r>
              <a:rPr lang="en-US" sz="1250" spc="100" kern="0" dirty="0">
                <a:solidFill>
                  <a:srgbClr val="9BBF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Innovation Hangar, Main Auditorium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967167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spc="200" kern="0" dirty="0">
                <a:solidFill>
                  <a:srgbClr val="5E7C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 BRIEFING // v1.0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66928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5E7C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PRESENTED BY THE ENGINEERING GUILD</a:t>
            </a:r>
            <a:endParaRPr lang="en-US" sz="1050" dirty="0"/>
          </a:p>
        </p:txBody>
      </p:sp>
    </p:spTree>
  </p:cSld>
  <p:clrMapOvr>
    <a:masterClrMapping/>
  </p:clrMapOvr>
  <p:transition xmlns:p14="http://schemas.microsoft.com/office/powerpoint/2010/main" spd="slow" p14:dur="55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10578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F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OP-SKYLINE // PRIORITY: CRITICAL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8961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spc="50" kern="0" dirty="0">
                <a:solidFill>
                  <a:srgbClr val="EAF7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Disaster Strikes Again.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0E1B30"/>
          </a:solidFill>
          <a:ln w="12700">
            <a:solidFill>
              <a:srgbClr val="FF5A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87452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MISSION BRIEFING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2697480"/>
            <a:ext cx="82296" cy="292608"/>
          </a:xfrm>
          <a:prstGeom prst="rect">
            <a:avLst/>
          </a:prstGeom>
          <a:solidFill>
            <a:srgbClr val="34E7E7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" y="2514600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7DF7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Disaster strikes again.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66928" y="3355848"/>
            <a:ext cx="82296" cy="292608"/>
          </a:xfrm>
          <a:prstGeom prst="rect">
            <a:avLst/>
          </a:prstGeom>
          <a:solidFill>
            <a:srgbClr val="34E7E7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3172968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9BBF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While approaching the rescue zone, teams hit dangerous terrain and severe conditions that halt all ground movement.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66928" y="4014216"/>
            <a:ext cx="82296" cy="292608"/>
          </a:xfrm>
          <a:prstGeom prst="rect">
            <a:avLst/>
          </a:prstGeom>
          <a:solidFill>
            <a:srgbClr val="34E7E7"/>
          </a:solidFill>
          <a:ln/>
        </p:spPr>
      </p:sp>
      <p:sp>
        <p:nvSpPr>
          <p:cNvPr id="11" name="Text 9"/>
          <p:cNvSpPr/>
          <p:nvPr/>
        </p:nvSpPr>
        <p:spPr>
          <a:xfrm>
            <a:off x="859536" y="3831336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9BBF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rescue point lies beyond a mountain ridge — and time is running out.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66928" y="4672584"/>
            <a:ext cx="82296" cy="292608"/>
          </a:xfrm>
          <a:prstGeom prst="rect">
            <a:avLst/>
          </a:prstGeom>
          <a:solidFill>
            <a:srgbClr val="34E7E7"/>
          </a:solidFill>
          <a:ln/>
        </p:spPr>
      </p:sp>
      <p:sp>
        <p:nvSpPr>
          <p:cNvPr id="13" name="Text 11"/>
          <p:cNvSpPr/>
          <p:nvPr/>
        </p:nvSpPr>
        <p:spPr>
          <a:xfrm>
            <a:off x="859536" y="4489704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9BBF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only salvaged aircraft materials and available resources, each team must design and build an emergency glider capable of carrying critical supplies across the obstacle.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66928" y="5330952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EAF7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mission now depends on your engineering creativity, precision, and teamwork.</a:t>
            </a:r>
            <a:endParaRPr lang="en-US" sz="1800" dirty="0"/>
          </a:p>
        </p:txBody>
      </p:sp>
      <p:pic>
        <p:nvPicPr>
          <p:cNvPr id="15" name="Image 0" descr="/projects/sandbox/new-ppt/assets/target.png">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8732520" y="1554480"/>
            <a:ext cx="3291840" cy="3291840"/>
          </a:xfrm>
          <a:prstGeom prst="rect">
            <a:avLst/>
          </a:prstGeom>
        </p:spPr>
      </p:pic>
      <p:pic>
        <p:nvPicPr>
          <p:cNvPr id="16" name="Image 1" descr="/projects/sandbox/new-ppt/assets/glider.png">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 rot="1320000">
            <a:off x="8686800" y="2880360"/>
            <a:ext cx="1737360" cy="1051560"/>
          </a:xfrm>
          <a:prstGeom prst="rect">
            <a:avLst/>
          </a:prstGeom>
        </p:spPr>
      </p:pic>
      <p:pic>
        <p:nvPicPr>
          <p:cNvPr id="17" name="Image 2" descr="/projects/sandbox/new-ppt/assets/emblem.png">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566928" y="6400800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9264" y="641908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34E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pPr algn="l" indent="0" marL="0">
              <a:buNone/>
            </a:pPr>
            <a:r>
              <a:rPr lang="en-US" sz="1050" spc="200" kern="0" dirty="0">
                <a:solidFill>
                  <a:srgbClr val="5E7C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10   </a:t>
            </a:r>
            <a:pPr algn="l" indent="0" marL="0">
              <a:buNone/>
            </a:pPr>
            <a:r>
              <a:rPr lang="en-US" sz="1050" spc="200" kern="0" dirty="0">
                <a:solidFill>
                  <a:srgbClr val="9BBF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BRIEFING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5681167" y="6419088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spc="150" kern="0" dirty="0">
                <a:solidFill>
                  <a:srgbClr val="5E7C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 SKYLINE  //  The Rescue Glider Challenge</a:t>
            </a:r>
            <a:endParaRPr lang="en-US" sz="1050" dirty="0"/>
          </a:p>
        </p:txBody>
      </p:sp>
    </p:spTree>
  </p:cSld>
  <p:clrMapOvr>
    <a:masterClrMapping/>
  </p:clrMapOvr>
  <p:transition xmlns:p14="http://schemas.microsoft.com/office/powerpoint/2010/main" spd="slow" p14:dur="55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10578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34E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 OVERVIEW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spc="50" kern="0" dirty="0">
                <a:solidFill>
                  <a:srgbClr val="EAF7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Your Objective, Rescue Engineers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66928" y="1755648"/>
            <a:ext cx="95097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9BBF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a flight-worthy glider from salvage that clears the ridge and delivers its payload to the rescue zone.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2743200"/>
            <a:ext cx="2545004" cy="3063240"/>
          </a:xfrm>
          <a:prstGeom prst="roundRect">
            <a:avLst>
              <a:gd name="adj" fmla="val 2874"/>
            </a:avLst>
          </a:prstGeom>
          <a:solidFill>
            <a:srgbClr val="081120">
              <a:alpha val="85000"/>
            </a:srgbClr>
          </a:solidFill>
          <a:ln w="15875">
            <a:solidFill>
              <a:srgbClr val="1331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3017520"/>
            <a:ext cx="502920" cy="54864"/>
          </a:xfrm>
          <a:prstGeom prst="rect">
            <a:avLst/>
          </a:prstGeom>
          <a:solidFill>
            <a:srgbClr val="34E7E7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3127248"/>
            <a:ext cx="210609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34E7E7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01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22960" y="4041648"/>
            <a:ext cx="20878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EAF7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Engineer the Airframe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22960" y="4681728"/>
            <a:ext cx="208780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9BBF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&amp; assemble a glider from the salvaged materials on your bench.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04540" y="2743200"/>
            <a:ext cx="2545004" cy="3063240"/>
          </a:xfrm>
          <a:prstGeom prst="roundRect">
            <a:avLst>
              <a:gd name="adj" fmla="val 2874"/>
            </a:avLst>
          </a:prstGeom>
          <a:solidFill>
            <a:srgbClr val="081120">
              <a:alpha val="85000"/>
            </a:srgbClr>
          </a:solidFill>
          <a:ln w="15875">
            <a:solidFill>
              <a:srgbClr val="13314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60572" y="3017520"/>
            <a:ext cx="502920" cy="54864"/>
          </a:xfrm>
          <a:prstGeom prst="rect">
            <a:avLst/>
          </a:prstGeom>
          <a:solidFill>
            <a:srgbClr val="34E7E7"/>
          </a:solidFill>
          <a:ln/>
        </p:spPr>
      </p:sp>
      <p:sp>
        <p:nvSpPr>
          <p:cNvPr id="12" name="Text 10"/>
          <p:cNvSpPr/>
          <p:nvPr/>
        </p:nvSpPr>
        <p:spPr>
          <a:xfrm>
            <a:off x="3623996" y="3127248"/>
            <a:ext cx="210609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34E7E7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02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3660572" y="4041648"/>
            <a:ext cx="20878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EAF7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Secure the Payload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3660572" y="4681728"/>
            <a:ext cx="208780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9BBF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Carry the supply capsule — mass counts, but it must arrive intact.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42152" y="2743200"/>
            <a:ext cx="2545004" cy="3063240"/>
          </a:xfrm>
          <a:prstGeom prst="roundRect">
            <a:avLst>
              <a:gd name="adj" fmla="val 2874"/>
            </a:avLst>
          </a:prstGeom>
          <a:solidFill>
            <a:srgbClr val="081120">
              <a:alpha val="85000"/>
            </a:srgbClr>
          </a:solidFill>
          <a:ln w="15875">
            <a:solidFill>
              <a:srgbClr val="13314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8184" y="3017520"/>
            <a:ext cx="502920" cy="54864"/>
          </a:xfrm>
          <a:prstGeom prst="rect">
            <a:avLst/>
          </a:prstGeom>
          <a:solidFill>
            <a:srgbClr val="34E7E7"/>
          </a:solidFill>
          <a:ln/>
        </p:spPr>
      </p:sp>
      <p:sp>
        <p:nvSpPr>
          <p:cNvPr id="17" name="Text 15"/>
          <p:cNvSpPr/>
          <p:nvPr/>
        </p:nvSpPr>
        <p:spPr>
          <a:xfrm>
            <a:off x="6461608" y="3127248"/>
            <a:ext cx="210609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34E7E7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03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6498184" y="4041648"/>
            <a:ext cx="20878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EAF7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Clear the Ridge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498184" y="4681728"/>
            <a:ext cx="208780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9BBF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Achieve the distance to cross the obstacle and reach the far side.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079763" y="2743200"/>
            <a:ext cx="2545004" cy="3063240"/>
          </a:xfrm>
          <a:prstGeom prst="roundRect">
            <a:avLst>
              <a:gd name="adj" fmla="val 2874"/>
            </a:avLst>
          </a:prstGeom>
          <a:solidFill>
            <a:srgbClr val="081120">
              <a:alpha val="85000"/>
            </a:srgbClr>
          </a:solidFill>
          <a:ln w="15875">
            <a:solidFill>
              <a:srgbClr val="13314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35795" y="3017520"/>
            <a:ext cx="502920" cy="54864"/>
          </a:xfrm>
          <a:prstGeom prst="rect">
            <a:avLst/>
          </a:prstGeom>
          <a:solidFill>
            <a:srgbClr val="34E7E7"/>
          </a:solidFill>
          <a:ln/>
        </p:spPr>
      </p:sp>
      <p:sp>
        <p:nvSpPr>
          <p:cNvPr id="22" name="Text 20"/>
          <p:cNvSpPr/>
          <p:nvPr/>
        </p:nvSpPr>
        <p:spPr>
          <a:xfrm>
            <a:off x="9299219" y="3127248"/>
            <a:ext cx="210609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34E7E7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04</a:t>
            </a:r>
            <a:endParaRPr lang="en-US" sz="4600" dirty="0"/>
          </a:p>
        </p:txBody>
      </p:sp>
      <p:sp>
        <p:nvSpPr>
          <p:cNvPr id="23" name="Text 21"/>
          <p:cNvSpPr/>
          <p:nvPr/>
        </p:nvSpPr>
        <p:spPr>
          <a:xfrm>
            <a:off x="9335795" y="4041648"/>
            <a:ext cx="20878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EAF7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Hit the Zone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335795" y="4681728"/>
            <a:ext cx="208780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9BBF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Land on-target. Accuracy over the rescue point wins the mission.</a:t>
            </a:r>
            <a:endParaRPr lang="en-US" sz="1250" dirty="0"/>
          </a:p>
        </p:txBody>
      </p:sp>
      <p:pic>
        <p:nvPicPr>
          <p:cNvPr id="25" name="Image 0" descr="/projects/sandbox/new-ppt/assets/emblem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566928" y="6400800"/>
            <a:ext cx="310896" cy="310896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969264" y="641908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34E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pPr algn="l" indent="0" marL="0">
              <a:buNone/>
            </a:pPr>
            <a:r>
              <a:rPr lang="en-US" sz="1050" spc="200" kern="0" dirty="0">
                <a:solidFill>
                  <a:srgbClr val="5E7C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10   </a:t>
            </a:r>
            <a:pPr algn="l" indent="0" marL="0">
              <a:buNone/>
            </a:pPr>
            <a:r>
              <a:rPr lang="en-US" sz="1050" spc="200" kern="0" dirty="0">
                <a:solidFill>
                  <a:srgbClr val="9BBF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OBJECTIVE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681167" y="6419088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spc="150" kern="0" dirty="0">
                <a:solidFill>
                  <a:srgbClr val="5E7C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 SKYLINE  //  The Rescue Glider Challenge</a:t>
            </a:r>
            <a:endParaRPr lang="en-US" sz="1050" dirty="0"/>
          </a:p>
        </p:txBody>
      </p:sp>
    </p:spTree>
  </p:cSld>
  <p:clrMapOvr>
    <a:masterClrMapping/>
  </p:clrMapOvr>
  <p:transition xmlns:p14="http://schemas.microsoft.com/office/powerpoint/2010/main" spd="slow" p14:dur="55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400" kern="0" dirty="0">
                <a:solidFill>
                  <a:srgbClr val="34E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SEQUENCE 01 / 03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9BBFD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ASSEMBLE THE GLIDER</a:t>
            </a:r>
            <a:endParaRPr lang="en-US" sz="1500" dirty="0"/>
          </a:p>
        </p:txBody>
      </p:sp>
      <p:pic>
        <p:nvPicPr>
          <p:cNvPr id="4" name="Image 0" descr="/projects/sandbox/new-ppt/assets/fig-bui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024128"/>
            <a:ext cx="4160520" cy="4343400"/>
          </a:xfrm>
          <a:prstGeom prst="rect">
            <a:avLst/>
          </a:prstGeom>
        </p:spPr>
      </p:pic>
      <p:pic>
        <p:nvPicPr>
          <p:cNvPr id="5" name="Image 1" descr="/projects/sandbox/new-ppt/assets/glid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834640"/>
            <a:ext cx="1371600" cy="83301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66928" y="5074920"/>
            <a:ext cx="6858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spc="300" kern="0" dirty="0">
                <a:solidFill>
                  <a:srgbClr val="EAF7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BUILD</a:t>
            </a:r>
            <a:endParaRPr lang="en-US" sz="5200" dirty="0"/>
          </a:p>
        </p:txBody>
      </p:sp>
      <p:sp>
        <p:nvSpPr>
          <p:cNvPr id="7" name="Text 3"/>
          <p:cNvSpPr/>
          <p:nvPr/>
        </p:nvSpPr>
        <p:spPr>
          <a:xfrm>
            <a:off x="6504127" y="5230368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450" i="1" dirty="0">
                <a:solidFill>
                  <a:srgbClr val="9BBF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Salvage becomes airframe. Hands, blueprints, and precision under pressure.</a:t>
            </a:r>
            <a:endParaRPr lang="en-US" sz="1450" dirty="0"/>
          </a:p>
        </p:txBody>
      </p:sp>
      <p:pic>
        <p:nvPicPr>
          <p:cNvPr id="8" name="Image 2" descr="/projects/sandbox/new-ppt/assets/emblem.png">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566928" y="6400800"/>
            <a:ext cx="310896" cy="31089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9264" y="641908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34E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pPr algn="l" indent="0" marL="0">
              <a:buNone/>
            </a:pPr>
            <a:r>
              <a:rPr lang="en-US" sz="1050" spc="200" kern="0" dirty="0">
                <a:solidFill>
                  <a:srgbClr val="5E7C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10   </a:t>
            </a:r>
            <a:pPr algn="l" indent="0" marL="0">
              <a:buNone/>
            </a:pPr>
            <a:r>
              <a:rPr lang="en-US" sz="1050" spc="200" kern="0" dirty="0">
                <a:solidFill>
                  <a:srgbClr val="9BBF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5681167" y="6419088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spc="150" kern="0" dirty="0">
                <a:solidFill>
                  <a:srgbClr val="5E7C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 SKYLINE  //  The Rescue Glider Challenge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xmlns:p14="http://schemas.microsoft.com/office/powerpoint/2010/main" spd="slow" p14:dur="12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400" kern="0" dirty="0">
                <a:solidFill>
                  <a:srgbClr val="34E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SEQUENCE 02 / 03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9BBFD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DEPLOY</a:t>
            </a:r>
            <a:endParaRPr lang="en-US" sz="1500" dirty="0"/>
          </a:p>
        </p:txBody>
      </p:sp>
      <p:pic>
        <p:nvPicPr>
          <p:cNvPr id="4" name="Image 0" descr="/projects/sandbox/new-ppt/assets/trajectory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4206240" y="1188720"/>
            <a:ext cx="7498080" cy="4217213"/>
          </a:xfrm>
          <a:prstGeom prst="rect">
            <a:avLst/>
          </a:prstGeom>
        </p:spPr>
      </p:pic>
      <p:pic>
        <p:nvPicPr>
          <p:cNvPr id="5" name="Image 1" descr="/projects/sandbox/new-ppt/assets/fig-laun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1024128"/>
            <a:ext cx="4160520" cy="4343400"/>
          </a:xfrm>
          <a:prstGeom prst="rect">
            <a:avLst/>
          </a:prstGeom>
        </p:spPr>
      </p:pic>
      <p:pic>
        <p:nvPicPr>
          <p:cNvPr id="6" name="Image 2" descr="/projects/sandbox/new-ppt/assets/glid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680000">
            <a:off x="4251960" y="1298448"/>
            <a:ext cx="1417320" cy="8604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66928" y="5074920"/>
            <a:ext cx="6858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spc="300" kern="0" dirty="0">
                <a:solidFill>
                  <a:srgbClr val="EAF7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LAUNCH</a:t>
            </a:r>
            <a:endParaRPr lang="en-US" sz="5200" dirty="0"/>
          </a:p>
        </p:txBody>
      </p:sp>
      <p:sp>
        <p:nvSpPr>
          <p:cNvPr id="8" name="Text 3"/>
          <p:cNvSpPr/>
          <p:nvPr/>
        </p:nvSpPr>
        <p:spPr>
          <a:xfrm>
            <a:off x="6504127" y="5230368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450" i="1" dirty="0">
                <a:solidFill>
                  <a:srgbClr val="9BBF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 up. Read the air. One clean release sends the payload skyward.</a:t>
            </a:r>
            <a:endParaRPr lang="en-US" sz="1450" dirty="0"/>
          </a:p>
        </p:txBody>
      </p:sp>
      <p:pic>
        <p:nvPicPr>
          <p:cNvPr id="9" name="Image 3" descr="/projects/sandbox/new-ppt/assets/emblem.png">    </p:cNvPr>
          <p:cNvPicPr>
            <a:picLocks noChangeAspect="1"/>
          </p:cNvPicPr>
          <p:nvPr/>
        </p:nvPicPr>
        <p:blipFill>
          <a:blip r:embed="rId5">
            <a:alphaModFix amt="85000"/>
          </a:blip>
          <a:stretch>
            <a:fillRect/>
          </a:stretch>
        </p:blipFill>
        <p:spPr>
          <a:xfrm>
            <a:off x="566928" y="6400800"/>
            <a:ext cx="310896" cy="31089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69264" y="641908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34E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pPr algn="l" indent="0" marL="0">
              <a:buNone/>
            </a:pPr>
            <a:r>
              <a:rPr lang="en-US" sz="1050" spc="200" kern="0" dirty="0">
                <a:solidFill>
                  <a:srgbClr val="5E7C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10   </a:t>
            </a:r>
            <a:pPr algn="l" indent="0" marL="0">
              <a:buNone/>
            </a:pPr>
            <a:r>
              <a:rPr lang="en-US" sz="1050" spc="200" kern="0" dirty="0">
                <a:solidFill>
                  <a:srgbClr val="9BBF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LAUNCH</a:t>
            </a:r>
            <a:endParaRPr lang="en-US" sz="1050" dirty="0"/>
          </a:p>
        </p:txBody>
      </p:sp>
      <p:sp>
        <p:nvSpPr>
          <p:cNvPr id="11" name="Text 5"/>
          <p:cNvSpPr/>
          <p:nvPr/>
        </p:nvSpPr>
        <p:spPr>
          <a:xfrm>
            <a:off x="5681167" y="6419088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spc="150" kern="0" dirty="0">
                <a:solidFill>
                  <a:srgbClr val="5E7C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 SKYLINE  //  The Rescue Glider Challenge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xmlns:p14="http://schemas.microsoft.com/office/powerpoint/2010/main" spd="slow" p14:dur="12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400" kern="0" dirty="0">
                <a:solidFill>
                  <a:srgbClr val="34E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SEQUENCE 03 / 03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9BBFD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TARGET: RESCUE ZONE</a:t>
            </a:r>
            <a:endParaRPr lang="en-US" sz="1500" dirty="0"/>
          </a:p>
        </p:txBody>
      </p:sp>
      <p:pic>
        <p:nvPicPr>
          <p:cNvPr id="4" name="Image 0" descr="/projects/sandbox/new-ppt/assets/trajectory.png">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4206240" y="1188720"/>
            <a:ext cx="7498080" cy="4217213"/>
          </a:xfrm>
          <a:prstGeom prst="rect">
            <a:avLst/>
          </a:prstGeom>
        </p:spPr>
      </p:pic>
      <p:pic>
        <p:nvPicPr>
          <p:cNvPr id="5" name="Image 1" descr="/projects/sandbox/new-ppt/assets/target-h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1463040"/>
            <a:ext cx="3886200" cy="3886200"/>
          </a:xfrm>
          <a:prstGeom prst="rect">
            <a:avLst/>
          </a:prstGeom>
        </p:spPr>
      </p:pic>
      <p:pic>
        <p:nvPicPr>
          <p:cNvPr id="6" name="Image 2" descr="/projects/sandbox/new-ppt/assets/fig-foll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148840"/>
            <a:ext cx="3063240" cy="3200400"/>
          </a:xfrm>
          <a:prstGeom prst="rect">
            <a:avLst/>
          </a:prstGeom>
        </p:spPr>
      </p:pic>
      <p:pic>
        <p:nvPicPr>
          <p:cNvPr id="7" name="Image 3" descr="/projects/sandbox/new-ppt/assets/glid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440000">
            <a:off x="9189720" y="2743200"/>
            <a:ext cx="1417320" cy="86045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566928" y="5074920"/>
            <a:ext cx="6858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spc="300" kern="0" dirty="0">
                <a:solidFill>
                  <a:srgbClr val="EAF7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IMPACT</a:t>
            </a:r>
            <a:endParaRPr lang="en-US" sz="5200" dirty="0"/>
          </a:p>
        </p:txBody>
      </p:sp>
      <p:sp>
        <p:nvSpPr>
          <p:cNvPr id="9" name="Text 3"/>
          <p:cNvSpPr/>
          <p:nvPr/>
        </p:nvSpPr>
        <p:spPr>
          <a:xfrm>
            <a:off x="6504127" y="5230368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450" i="1" dirty="0">
                <a:solidFill>
                  <a:srgbClr val="9BBF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arc holds true. Supplies strike the zone. Mission accomplished.</a:t>
            </a:r>
            <a:endParaRPr lang="en-US" sz="1450" dirty="0"/>
          </a:p>
        </p:txBody>
      </p:sp>
      <p:pic>
        <p:nvPicPr>
          <p:cNvPr id="10" name="Image 4" descr="/projects/sandbox/new-ppt/assets/emblem.png">    </p:cNvPr>
          <p:cNvPicPr>
            <a:picLocks noChangeAspect="1"/>
          </p:cNvPicPr>
          <p:nvPr/>
        </p:nvPicPr>
        <p:blipFill>
          <a:blip r:embed="rId6">
            <a:alphaModFix amt="85000"/>
          </a:blip>
          <a:stretch>
            <a:fillRect/>
          </a:stretch>
        </p:blipFill>
        <p:spPr>
          <a:xfrm>
            <a:off x="566928" y="6400800"/>
            <a:ext cx="310896" cy="310896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969264" y="641908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34E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pPr algn="l" indent="0" marL="0">
              <a:buNone/>
            </a:pPr>
            <a:r>
              <a:rPr lang="en-US" sz="1050" spc="200" kern="0" dirty="0">
                <a:solidFill>
                  <a:srgbClr val="5E7C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10   </a:t>
            </a:r>
            <a:pPr algn="l" indent="0" marL="0">
              <a:buNone/>
            </a:pPr>
            <a:r>
              <a:rPr lang="en-US" sz="1050" spc="200" kern="0" dirty="0">
                <a:solidFill>
                  <a:srgbClr val="9BBF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</a:t>
            </a:r>
            <a:endParaRPr lang="en-US" sz="1050" dirty="0"/>
          </a:p>
        </p:txBody>
      </p:sp>
      <p:sp>
        <p:nvSpPr>
          <p:cNvPr id="12" name="Text 5"/>
          <p:cNvSpPr/>
          <p:nvPr/>
        </p:nvSpPr>
        <p:spPr>
          <a:xfrm>
            <a:off x="5681167" y="6419088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spc="150" kern="0" dirty="0">
                <a:solidFill>
                  <a:srgbClr val="5E7C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 SKYLINE  //  The Rescue Glider Challenge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xmlns:p14="http://schemas.microsoft.com/office/powerpoint/2010/main" spd="slow" p14:dur="12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10578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34E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 &amp; CONSTRAINTS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7839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spc="50" kern="0" dirty="0">
                <a:solidFill>
                  <a:srgbClr val="EAF7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Field Regulations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66928" y="2103120"/>
            <a:ext cx="3442106" cy="3794760"/>
          </a:xfrm>
          <a:prstGeom prst="roundRect">
            <a:avLst>
              <a:gd name="adj" fmla="val 2125"/>
            </a:avLst>
          </a:prstGeom>
          <a:solidFill>
            <a:srgbClr val="081120">
              <a:alpha val="80000"/>
            </a:srgbClr>
          </a:solidFill>
          <a:ln w="15875">
            <a:solidFill>
              <a:srgbClr val="1331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35915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34E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2761488"/>
            <a:ext cx="289346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DF7F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Salvage Only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59536" y="3337560"/>
            <a:ext cx="2893466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9BBF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Balsa, paper, card, tape &amp; string from the supply crate</a:t>
            </a:r>
            <a:endParaRPr lang="en-US" sz="1350" dirty="0"/>
          </a:p>
          <a:p>
            <a:pPr algn="l"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9BBF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pre-built kits or powered components</a:t>
            </a:r>
            <a:endParaRPr lang="en-US" sz="1350" dirty="0"/>
          </a:p>
          <a:p>
            <a:pPr algn="l"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9BBF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roll of tape per team — spend it wisely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74794" y="2103120"/>
            <a:ext cx="3442106" cy="3794760"/>
          </a:xfrm>
          <a:prstGeom prst="roundRect">
            <a:avLst>
              <a:gd name="adj" fmla="val 2125"/>
            </a:avLst>
          </a:prstGeom>
          <a:solidFill>
            <a:srgbClr val="081120">
              <a:alpha val="80000"/>
            </a:srgbClr>
          </a:solidFill>
          <a:ln w="15875">
            <a:solidFill>
              <a:srgbClr val="1331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9114" y="235915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34E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49114" y="2761488"/>
            <a:ext cx="289346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DF7F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Build Window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67402" y="3337560"/>
            <a:ext cx="2893466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9BBF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 minutes to design &amp; construct</a:t>
            </a:r>
            <a:endParaRPr lang="en-US" sz="1350" dirty="0"/>
          </a:p>
          <a:p>
            <a:pPr algn="l"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9BBF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10-minute strategy huddle before the clock</a:t>
            </a:r>
            <a:endParaRPr lang="en-US" sz="1350" dirty="0"/>
          </a:p>
          <a:p>
            <a:pPr algn="l"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9BBF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 down when the siren sounds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82661" y="2103120"/>
            <a:ext cx="3442106" cy="3794760"/>
          </a:xfrm>
          <a:prstGeom prst="roundRect">
            <a:avLst>
              <a:gd name="adj" fmla="val 2125"/>
            </a:avLst>
          </a:prstGeom>
          <a:solidFill>
            <a:srgbClr val="081120">
              <a:alpha val="80000"/>
            </a:srgbClr>
          </a:solidFill>
          <a:ln w="15875">
            <a:solidFill>
              <a:srgbClr val="1331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56981" y="235915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34E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56981" y="2761488"/>
            <a:ext cx="289346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DF7F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Launch Rules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75269" y="3337560"/>
            <a:ext cx="2893466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9BBF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Hand-launch only, from behind the deploy line</a:t>
            </a:r>
            <a:endParaRPr lang="en-US" sz="1350" dirty="0"/>
          </a:p>
          <a:p>
            <a:pPr algn="l"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9BBF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practice throw, three scored attempts</a:t>
            </a:r>
            <a:endParaRPr lang="en-US" sz="1350" dirty="0"/>
          </a:p>
          <a:p>
            <a:pPr algn="l"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9BBF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Glider must be intact after each flight</a:t>
            </a:r>
            <a:endParaRPr lang="en-US" sz="1350" dirty="0"/>
          </a:p>
        </p:txBody>
      </p:sp>
      <p:pic>
        <p:nvPicPr>
          <p:cNvPr id="16" name="Image 0" descr="/projects/sandbox/new-ppt/assets/emblem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566928" y="6400800"/>
            <a:ext cx="310896" cy="31089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969264" y="641908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34E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pPr algn="l" indent="0" marL="0">
              <a:buNone/>
            </a:pPr>
            <a:r>
              <a:rPr lang="en-US" sz="1050" spc="200" kern="0" dirty="0">
                <a:solidFill>
                  <a:srgbClr val="5E7C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10   </a:t>
            </a:r>
            <a:pPr algn="l" indent="0" marL="0">
              <a:buNone/>
            </a:pPr>
            <a:r>
              <a:rPr lang="en-US" sz="1050" spc="200" kern="0" dirty="0">
                <a:solidFill>
                  <a:srgbClr val="9BBF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681167" y="6419088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spc="150" kern="0" dirty="0">
                <a:solidFill>
                  <a:srgbClr val="5E7C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 SKYLINE  //  The Rescue Glider Challenge</a:t>
            </a:r>
            <a:endParaRPr lang="en-US" sz="1050" dirty="0"/>
          </a:p>
        </p:txBody>
      </p:sp>
    </p:spTree>
  </p:cSld>
  <p:clrMapOvr>
    <a:masterClrMapping/>
  </p:clrMapOvr>
  <p:transition xmlns:p14="http://schemas.microsoft.com/office/powerpoint/2010/main" spd="slow" p14:dur="55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10578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34E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JUDGING CRITERIA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7839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spc="50" kern="0" dirty="0">
                <a:solidFill>
                  <a:srgbClr val="EAF7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How the Mission Is Scored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66928" y="22402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34E7E7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35%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984248" y="2231136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AF7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Distance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984248" y="2560320"/>
            <a:ext cx="31821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E7C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Clearing the ridge — measured from the deploy line to touchdown.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94960" y="2304288"/>
            <a:ext cx="4663440" cy="310896"/>
          </a:xfrm>
          <a:prstGeom prst="roundRect">
            <a:avLst>
              <a:gd name="adj" fmla="val 11765"/>
            </a:avLst>
          </a:prstGeom>
          <a:solidFill>
            <a:srgbClr val="0E1B30"/>
          </a:solidFill>
          <a:ln w="12700">
            <a:solidFill>
              <a:srgbClr val="1331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0" y="2304288"/>
            <a:ext cx="1632204" cy="310896"/>
          </a:xfrm>
          <a:prstGeom prst="roundRect">
            <a:avLst>
              <a:gd name="adj" fmla="val 11765"/>
            </a:avLst>
          </a:prstGeom>
          <a:solidFill>
            <a:srgbClr val="34E7E7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313639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34E7E7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30%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984248" y="312724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AF7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Target Accuracy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984248" y="3456432"/>
            <a:ext cx="31821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E7C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Proximity of landing to the marked rescue zone.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94960" y="3200400"/>
            <a:ext cx="4663440" cy="310896"/>
          </a:xfrm>
          <a:prstGeom prst="roundRect">
            <a:avLst>
              <a:gd name="adj" fmla="val 11765"/>
            </a:avLst>
          </a:prstGeom>
          <a:solidFill>
            <a:srgbClr val="0E1B30"/>
          </a:solidFill>
          <a:ln w="12700">
            <a:solidFill>
              <a:srgbClr val="13314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94960" y="3200400"/>
            <a:ext cx="1399032" cy="310896"/>
          </a:xfrm>
          <a:prstGeom prst="roundRect">
            <a:avLst>
              <a:gd name="adj" fmla="val 11765"/>
            </a:avLst>
          </a:prstGeom>
          <a:solidFill>
            <a:srgbClr val="34E7E7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4032504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34E7E7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20%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1984248" y="402336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AF7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Design &amp; Craft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984248" y="4352544"/>
            <a:ext cx="31821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E7C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Structural creativity, aerodynamics, and build quality.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94960" y="4096512"/>
            <a:ext cx="4663440" cy="310896"/>
          </a:xfrm>
          <a:prstGeom prst="roundRect">
            <a:avLst>
              <a:gd name="adj" fmla="val 11765"/>
            </a:avLst>
          </a:prstGeom>
          <a:solidFill>
            <a:srgbClr val="0E1B30"/>
          </a:solidFill>
          <a:ln w="12700">
            <a:solidFill>
              <a:srgbClr val="13314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94960" y="4096512"/>
            <a:ext cx="932688" cy="310896"/>
          </a:xfrm>
          <a:prstGeom prst="roundRect">
            <a:avLst>
              <a:gd name="adj" fmla="val 11765"/>
            </a:avLst>
          </a:prstGeom>
          <a:solidFill>
            <a:srgbClr val="34E7E7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4928616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34E7E7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15%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1984248" y="491947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AF7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Teamwork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984248" y="5248656"/>
            <a:ext cx="31821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E7C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Coordination, safety, and clean execution under time.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94960" y="4992624"/>
            <a:ext cx="4663440" cy="310896"/>
          </a:xfrm>
          <a:prstGeom prst="roundRect">
            <a:avLst>
              <a:gd name="adj" fmla="val 11765"/>
            </a:avLst>
          </a:prstGeom>
          <a:solidFill>
            <a:srgbClr val="0E1B30"/>
          </a:solidFill>
          <a:ln w="12700">
            <a:solidFill>
              <a:srgbClr val="13314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94960" y="4992624"/>
            <a:ext cx="699516" cy="310896"/>
          </a:xfrm>
          <a:prstGeom prst="roundRect">
            <a:avLst>
              <a:gd name="adj" fmla="val 11765"/>
            </a:avLst>
          </a:prstGeom>
          <a:solidFill>
            <a:srgbClr val="34E7E7"/>
          </a:solidFill>
          <a:ln/>
        </p:spPr>
      </p:sp>
      <p:pic>
        <p:nvPicPr>
          <p:cNvPr id="24" name="Image 0" descr="/projects/sandbox/new-ppt/assets/emblem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566928" y="6400800"/>
            <a:ext cx="310896" cy="310896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969264" y="641908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34E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pPr algn="l" indent="0" marL="0">
              <a:buNone/>
            </a:pPr>
            <a:r>
              <a:rPr lang="en-US" sz="1050" spc="200" kern="0" dirty="0">
                <a:solidFill>
                  <a:srgbClr val="5E7C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10   </a:t>
            </a:r>
            <a:pPr algn="l" indent="0" marL="0">
              <a:buNone/>
            </a:pPr>
            <a:r>
              <a:rPr lang="en-US" sz="1050" spc="200" kern="0" dirty="0">
                <a:solidFill>
                  <a:srgbClr val="9BBF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JUDGING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681167" y="6419088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spc="150" kern="0" dirty="0">
                <a:solidFill>
                  <a:srgbClr val="5E7C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 SKYLINE  //  The Rescue Glider Challenge</a:t>
            </a:r>
            <a:endParaRPr lang="en-US" sz="1050" dirty="0"/>
          </a:p>
        </p:txBody>
      </p:sp>
    </p:spTree>
  </p:cSld>
  <p:clrMapOvr>
    <a:masterClrMapping/>
  </p:clrMapOvr>
  <p:transition xmlns:p14="http://schemas.microsoft.com/office/powerpoint/2010/main" spd="slow" p14:dur="55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10578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34E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MISSION TIMELINE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7839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spc="50" kern="0" dirty="0">
                <a:solidFill>
                  <a:srgbClr val="EAF7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Schedule of Operations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2029968" y="2295144"/>
            <a:ext cx="0" cy="3337560"/>
          </a:xfrm>
          <a:prstGeom prst="line">
            <a:avLst/>
          </a:prstGeom>
          <a:noFill/>
          <a:ln w="19050">
            <a:solidFill>
              <a:srgbClr val="1331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14884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34E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09:00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947672" y="2212848"/>
            <a:ext cx="164592" cy="164592"/>
          </a:xfrm>
          <a:prstGeom prst="ellipse">
            <a:avLst/>
          </a:prstGeom>
          <a:solidFill>
            <a:srgbClr val="34E7E7"/>
          </a:solidFill>
          <a:ln w="19050">
            <a:solidFill>
              <a:srgbClr val="04060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50008" y="2148840"/>
            <a:ext cx="92747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AF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Check-in &amp; Briefing   </a:t>
            </a:r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BBF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 assemble. Mission parameters issued.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6928" y="2807208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34E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09:30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947672" y="2871216"/>
            <a:ext cx="164592" cy="164592"/>
          </a:xfrm>
          <a:prstGeom prst="ellipse">
            <a:avLst/>
          </a:prstGeom>
          <a:solidFill>
            <a:srgbClr val="34E7E7"/>
          </a:solidFill>
          <a:ln w="19050">
            <a:solidFill>
              <a:srgbClr val="04060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50008" y="2807208"/>
            <a:ext cx="92747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AF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Salvage Distribution   </a:t>
            </a:r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BBF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Supply crates handed out. Inspect your materials.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6928" y="3465576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34E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09:45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947672" y="3529584"/>
            <a:ext cx="164592" cy="164592"/>
          </a:xfrm>
          <a:prstGeom prst="ellipse">
            <a:avLst/>
          </a:prstGeom>
          <a:solidFill>
            <a:srgbClr val="34E7E7"/>
          </a:solidFill>
          <a:ln w="19050">
            <a:solidFill>
              <a:srgbClr val="0406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50008" y="3465576"/>
            <a:ext cx="92747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AF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Window Opens   </a:t>
            </a:r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BBF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 minutes on the clock. Engineer the airframe.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66928" y="4123944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34E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10:30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947672" y="4187952"/>
            <a:ext cx="164592" cy="164592"/>
          </a:xfrm>
          <a:prstGeom prst="ellipse">
            <a:avLst/>
          </a:prstGeom>
          <a:solidFill>
            <a:srgbClr val="34E7E7"/>
          </a:solidFill>
          <a:ln w="19050">
            <a:solidFill>
              <a:srgbClr val="04060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50008" y="4123944"/>
            <a:ext cx="92747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AF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&amp; Fly   </a:t>
            </a:r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BBF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Hand-launch trials across the ridge.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66928" y="4782312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34E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11:30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947672" y="4846320"/>
            <a:ext cx="164592" cy="164592"/>
          </a:xfrm>
          <a:prstGeom prst="ellipse">
            <a:avLst/>
          </a:prstGeom>
          <a:solidFill>
            <a:srgbClr val="34E7E7"/>
          </a:solidFill>
          <a:ln w="19050">
            <a:solidFill>
              <a:srgbClr val="04060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50008" y="4782312"/>
            <a:ext cx="92747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AF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Judging &amp; Scoring   </a:t>
            </a:r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BBF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Distance, accuracy, design, and teamwork tallied.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66928" y="544068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34E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12:15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947672" y="5504688"/>
            <a:ext cx="164592" cy="164592"/>
          </a:xfrm>
          <a:prstGeom prst="ellipse">
            <a:avLst/>
          </a:prstGeom>
          <a:solidFill>
            <a:srgbClr val="34E7E7"/>
          </a:solidFill>
          <a:ln w="19050">
            <a:solidFill>
              <a:srgbClr val="04060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50008" y="5440680"/>
            <a:ext cx="92747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AF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Awards Ceremony   </a:t>
            </a:r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BBF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Rescue honors awarded. Mission debrief.</a:t>
            </a:r>
            <a:endParaRPr lang="en-US" sz="1600" dirty="0"/>
          </a:p>
        </p:txBody>
      </p:sp>
      <p:pic>
        <p:nvPicPr>
          <p:cNvPr id="23" name="Image 0" descr="/projects/sandbox/new-ppt/assets/emblem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566928" y="6400800"/>
            <a:ext cx="310896" cy="310896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969264" y="641908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34E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pPr algn="l" indent="0" marL="0">
              <a:buNone/>
            </a:pPr>
            <a:r>
              <a:rPr lang="en-US" sz="1050" spc="200" kern="0" dirty="0">
                <a:solidFill>
                  <a:srgbClr val="5E7C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10   </a:t>
            </a:r>
            <a:pPr algn="l" indent="0" marL="0">
              <a:buNone/>
            </a:pPr>
            <a:r>
              <a:rPr lang="en-US" sz="1050" spc="200" kern="0" dirty="0">
                <a:solidFill>
                  <a:srgbClr val="9BBF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TIMELINE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681167" y="6419088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spc="150" kern="0" dirty="0">
                <a:solidFill>
                  <a:srgbClr val="5E7C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 SKYLINE  //  The Rescue Glider Challenge</a:t>
            </a:r>
            <a:endParaRPr lang="en-US" sz="1050" dirty="0"/>
          </a:p>
        </p:txBody>
      </p:sp>
    </p:spTree>
  </p:cSld>
  <p:clrMapOvr>
    <a:masterClrMapping/>
  </p:clrMapOvr>
  <p:transition xmlns:p14="http://schemas.microsoft.com/office/powerpoint/2010/main" spd="slow" p14:dur="55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ojects/sandbox/new-ppt/assets/emble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328" y="960120"/>
            <a:ext cx="1463040" cy="1463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542032"/>
            <a:ext cx="1219169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600" kern="0" dirty="0">
                <a:solidFill>
                  <a:srgbClr val="34E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0" y="2852928"/>
            <a:ext cx="1219169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spc="100" kern="0" dirty="0">
                <a:solidFill>
                  <a:srgbClr val="EAF7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Good Luck, Rescue Engineers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0" y="39776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BBF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ridge is waiting. The zone is counting on you.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0" y="4617720"/>
            <a:ext cx="121916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300" kern="0" dirty="0">
                <a:solidFill>
                  <a:srgbClr val="7DF7F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Salvage. Engineer. Deploy.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0" y="5806440"/>
            <a:ext cx="1219169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spc="200" kern="0" dirty="0">
                <a:solidFill>
                  <a:srgbClr val="5E7C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 SKYLINE // The Rescue Glider Challenge</a:t>
            </a:r>
            <a:endParaRPr lang="en-US" sz="1150" dirty="0"/>
          </a:p>
        </p:txBody>
      </p:sp>
    </p:spTree>
  </p:cSld>
  <p:clrMapOvr>
    <a:masterClrMapping/>
  </p:clrMapOvr>
  <p:transition xmlns:p14="http://schemas.microsoft.com/office/powerpoint/2010/main" spd="slow" p14:dur="55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presented by the Engineering Guild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OPERATION SKYLINE — The Rescue Glider Challenge</dc:title>
  <dc:subject>PptxGenJS Presentation</dc:subject>
  <dc:creator>Kiro</dc:creator>
  <cp:lastModifiedBy>Kiro</cp:lastModifiedBy>
  <cp:revision>1</cp:revision>
  <dcterms:created xsi:type="dcterms:W3CDTF">2026-07-15T15:32:43Z</dcterms:created>
  <dcterms:modified xsi:type="dcterms:W3CDTF">2026-07-15T15:32:43Z</dcterms:modified>
</cp:coreProperties>
</file>